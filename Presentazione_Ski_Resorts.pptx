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BFD9F0"/>
                </a:solidFill>
                <a:latin typeface="Calibri"/>
              </a:rPr>
              <a:t>ANALISI STATISTICA  •  PROGETTO D'ESAME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Cosa determina il prezzo
di uno skipass?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0">
                <a:solidFill>
                  <a:srgbClr val="D6E6F2"/>
                </a:solidFill>
                <a:latin typeface="Calibri"/>
              </a:rPr>
              <a:t>Cosa dicono davvero i dati — e quali scelte se ne possono trarre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FD9F0"/>
                </a:solidFill>
                <a:latin typeface="Calibri"/>
              </a:rPr>
              <a:t>499 comprensori sciistici nel mondo  •  fonte: Kaggle + World Bank (2022)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DB8CF"/>
                </a:solidFill>
                <a:latin typeface="Calibri"/>
              </a:rPr>
              <a:t>Analisi svolta in R  ·  prezzi in dollari (USD)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Alessandro Macchi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IL PUNTO DI PARTENZA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La domanda, in parole semplici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Perché due skipass possono costare uno il doppio dell'altro?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Abbiamo raccolto 499 comprensori in tutto il mondo e cercato i fattori che spostano davvero il prezzo. Per ragionare in modo ordinato, li abbiamo raggruppati in quattro “indiziati”.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2697480" cy="219456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697480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01752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1 · La montagna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Quanto è alta, grande e attrezzata?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743200"/>
            <a:ext cx="2697480" cy="219456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2743200"/>
            <a:ext cx="2697480" cy="109728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01752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2 · Geografia e ricchezza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Conta il Paese e quanto è ricco?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2743200"/>
            <a:ext cx="2697480" cy="219456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2743200"/>
            <a:ext cx="2697480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01752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3 · Servizi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Snowpark, sci notturno… si pagano?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6" y="2743200"/>
            <a:ext cx="2697480" cy="219456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856" y="2743200"/>
            <a:ext cx="2697480" cy="109728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301752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4 · La neve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Più neve = prezzo più alto?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2E86C1"/>
                </a:solidFill>
                <a:latin typeface="Calibri"/>
              </a:rPr>
              <a:t>Per ogni indiziato la stessa domanda: ha un effetto reale sul prezzo? E quanto è grande?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I DATI IN BREVE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Quanto costa, in media, uno skipass</a:t>
            </a:r>
          </a:p>
        </p:txBody>
      </p:sp>
      <p:pic>
        <p:nvPicPr>
          <p:cNvPr id="6" name="Picture 5" descr="plo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6634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62636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55555"/>
                </a:solidFill>
                <a:latin typeface="Calibri"/>
              </a:rPr>
              <a:t>Distribuzione dei prezzi: tanti comprensori “normali”, pochi molto cari.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96012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09728" cy="960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2E86C1"/>
                </a:solidFill>
                <a:latin typeface="Calibri"/>
              </a:rPr>
              <a:t>~52 $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64592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prezzo medio di uno skipass giornaliero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5486400" cy="96012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09728" cy="960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2E86C1"/>
                </a:solidFill>
                <a:latin typeface="Calibri"/>
              </a:rPr>
              <a:t>48 $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prezzo mediano (la metà costa meno di così)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40"/>
            <a:ext cx="5486400" cy="96012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109728" cy="960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2E86C1"/>
                </a:solidFill>
                <a:latin typeface="Calibri"/>
              </a:rPr>
              <a:t>15 – 148 $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84048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dal più economico al più caro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La curva è “sbilanciata a destra”: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la maggior parte dei comprensori sta tra 32 e 63 $, ma una manciata di località premium tira su la media. La maggioranza dei dati riguarda l'Europa (360 su 499).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BFD9F0"/>
                </a:solidFill>
                <a:latin typeface="Calibri"/>
              </a:rPr>
              <a:t>IL RISULTATO PRINCIPALE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Conta DOVE sei e QUANTO sei in alto.
Non la neve, non i servizi.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91840"/>
            <a:ext cx="3383280" cy="201168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📍  La geografia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FDFEC"/>
                </a:solidFill>
                <a:latin typeface="Calibri"/>
              </a:rPr>
              <a:t>il continente è il fattore n.1: il Nord America costa molto più dell'Europa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3291840"/>
            <a:ext cx="3383280" cy="201168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352044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⛰️  L'altitudine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FDFEC"/>
                </a:solidFill>
                <a:latin typeface="Calibri"/>
              </a:rPr>
              <a:t>i comprensori più alti fanno pagare di più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3291840"/>
            <a:ext cx="3383280" cy="2011680"/>
          </a:xfrm>
          <a:prstGeom prst="rect">
            <a:avLst/>
          </a:prstGeom>
          <a:solidFill>
            <a:srgbClr val="2A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52044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💰  La ricchezza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FDFEC"/>
                </a:solidFill>
                <a:latin typeface="Calibri"/>
              </a:rPr>
              <a:t>nei Paesi più ricchi i prezzi salgono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BFD9F0"/>
                </a:solidFill>
                <a:latin typeface="Calibri"/>
              </a:rPr>
              <a:t>Tutto il resto — neve, sci notturno, stagione, numero di impianti — incide poco o nulla sul prezzo.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INDIZIATO 1 · LA MONTAGNA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Più in alto = più caro (ma la dimensione conta poco)</a:t>
            </a:r>
          </a:p>
        </p:txBody>
      </p:sp>
      <p:pic>
        <p:nvPicPr>
          <p:cNvPr id="6" name="Picture 5" descr="plo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75488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62636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55555"/>
                </a:solidFill>
                <a:latin typeface="Calibri"/>
              </a:rPr>
              <a:t>Ogni punto è un comprensorio: salendo di quota, i prezzi tendono a salire.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577840" cy="128016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09728" cy="1280160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19072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L'altitudine è il segnale più chiaro della montagna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I comprensori più alti costano di più, in modo evidente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Tra i più bassi e i più alti il divario arriva a ~43 $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577840" cy="114300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09728" cy="1143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182112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La grandezza del comprensorio conta, ma meno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Più piste = prezzo un po' più alto, legame moderato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5577840" cy="132588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09728" cy="13258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507992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Sorprende quel che NON conta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Il numero di impianti è quasi irrilevante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Anche il dislivello incide pochissimo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INDIZIATO 2 · GEOGRAFIA E RICCHEZZA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Il fattore più potente di tutta l'analisi</a:t>
            </a:r>
          </a:p>
        </p:txBody>
      </p:sp>
      <p:pic>
        <p:nvPicPr>
          <p:cNvPr id="6" name="Picture 5" descr="plo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9377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6309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55555"/>
                </a:solidFill>
                <a:latin typeface="Calibri"/>
              </a:rPr>
              <a:t>Prezzo per continente: Nord America e Oceania nettamente sopra l'Europa.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760720" cy="141732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09728" cy="1417320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73352"/>
            <a:ext cx="5303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E8B5A"/>
                </a:solidFill>
                <a:latin typeface="Calibri"/>
              </a:rPr>
              <a:t>+38 $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Il continente fa la differenza più grande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Nord America in media ~38 $ più dell'Europa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È lo scarto più ampio dell'intero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5760720" cy="109728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109728" cy="10972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319272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La ricchezza del Paese pesa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Nei Paesi con PIL pro capite più alto i prezzi salgono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INDIZIATO 3 · I SERVIZI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Solo lo snowpark si fa pagare davvero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09728" cy="868680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08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F3A5F"/>
                </a:solidFill>
                <a:latin typeface="Calibri"/>
              </a:rPr>
              <a:t>Snowpark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E8B5A"/>
                </a:solidFill>
                <a:latin typeface="Calibri"/>
              </a:rPr>
              <a:t>+10 $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554480"/>
            <a:ext cx="5760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333333"/>
                </a:solidFill>
                <a:latin typeface="Calibri"/>
              </a:rPr>
              <a:t>Premio reale: chi ha lo snowpark fa pagare di più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11064240" cy="86868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109728" cy="8686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32888"/>
            <a:ext cx="3108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F3A5F"/>
                </a:solidFill>
                <a:latin typeface="Calibri"/>
              </a:rPr>
              <a:t>Sci notturno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32888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555555"/>
                </a:solidFill>
                <a:latin typeface="Calibri"/>
              </a:rPr>
              <a:t>0 $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532888"/>
            <a:ext cx="5760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333333"/>
                </a:solidFill>
                <a:latin typeface="Calibri"/>
              </a:rPr>
              <a:t>Nessuna differenza di prezzo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11296"/>
            <a:ext cx="11064240" cy="86868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11296"/>
            <a:ext cx="109728" cy="8686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11296"/>
            <a:ext cx="3108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F3A5F"/>
                </a:solidFill>
                <a:latin typeface="Calibri"/>
              </a:rPr>
              <a:t>Adatto ai bambini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11296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555555"/>
                </a:solidFill>
                <a:latin typeface="Calibri"/>
              </a:rPr>
              <a:t>0 $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511296"/>
            <a:ext cx="5760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333333"/>
                </a:solidFill>
                <a:latin typeface="Calibri"/>
              </a:rPr>
              <a:t>Quasi tutti ce l'hanno (495 su 499): non distingue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89704"/>
            <a:ext cx="11064240" cy="86868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89704"/>
            <a:ext cx="10972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9704"/>
            <a:ext cx="3108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F3A5F"/>
                </a:solidFill>
                <a:latin typeface="Calibri"/>
              </a:rPr>
              <a:t>Sci estivo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489704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C0392B"/>
                </a:solidFill>
                <a:latin typeface="Calibri"/>
              </a:rPr>
              <a:t>“+14 $”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489704"/>
            <a:ext cx="5760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333333"/>
                </a:solidFill>
                <a:latin typeface="Calibri"/>
              </a:rPr>
              <a:t>Sembra un premio… ma è solo geografia (vedi sotto)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23560"/>
            <a:ext cx="1106424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Attenzione al falso indiziato: lo “sci estivo” non è una scelta commerciale che alza il prezzo.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FDFEC"/>
                </a:solidFill>
                <a:latin typeface="Calibri"/>
              </a:rPr>
              <a:t>È legatissimo alla geografia (ghiacciai, emisfero sud): è la posizione a spiegarlo, non il servizio.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INDIZIATO 4 · LA NEVE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La sorpresa: la neve NON spiega il prezzo</a:t>
            </a:r>
          </a:p>
        </p:txBody>
      </p:sp>
      <p:pic>
        <p:nvPicPr>
          <p:cNvPr id="6" name="Picture 5" descr="plo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75488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6309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55555"/>
                </a:solidFill>
                <a:latin typeface="Calibri"/>
              </a:rPr>
              <a:t>Più neve non vuol dire prezzo più alto: la nuvola di punti è piatta.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09728" cy="1371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19072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Ci si aspettava: più neve, prezzo più alto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Sembra logico pagare di più dove la neve è garantita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5577840" cy="123444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109728" cy="1234440"/>
          </a:xfrm>
          <a:prstGeom prst="rect">
            <a:avLst/>
          </a:prstGeom>
          <a:solidFill>
            <a:srgbClr val="1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27832"/>
            <a:ext cx="5120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8B5A"/>
                </a:solidFill>
                <a:latin typeface="Calibri"/>
              </a:rPr>
              <a:t>I dati dicono il contrario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Tra quantità di neve e prezzo non c'è legame utile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Comprensori molto nevosi possono costare poco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5577840" cy="132588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109728" cy="13258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599432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Perché? È l'altitudine “mascherata”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La neve dipende dalla quota, e la quota è già nel prezzo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Una volta considerata l'altitudine, la neve non aggiunge nulla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RIEPILOGO DELLE ANALISI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Tutti i fattori, ordinati per forza dell'effetto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1371600"/>
          <a:ext cx="11064240" cy="4517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1800"/>
                <a:gridCol w="1417320"/>
                <a:gridCol w="502920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Fattore</a:t>
                      </a:r>
                    </a:p>
                  </a:txBody>
                  <a:tcPr anchor="ctr" marL="64008" marR="64008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 marL="64008" marR="64008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Risultato</a:t>
                      </a:r>
                    </a:p>
                  </a:txBody>
                  <a:tcPr anchor="ctr" marL="64008" marR="64008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Effetto</a:t>
                      </a:r>
                    </a:p>
                  </a:txBody>
                  <a:tcPr anchor="ctr" marL="64008" marR="64008" marT="9144" marB="9144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Continente — geografia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ANOVA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Nord America ~+38 $ sull’Europa (F≈117, p&lt;0,001)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Forte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Ricchezza naz. (PIL pro capite)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Correlazione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r≈0,46 — i Paesi più ricchi pagano di più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Moderato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Altitudine massima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Correlazione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r≈0,41 — più in alto, più caro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Moderato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Dimensione (totale piste)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Correlazione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r≈0,31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Moderato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Snowpark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t-test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premio reale ~+10 $ (p&lt;0,001)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Moderato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Sci estivo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t-test / Chi²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apparente +14 $, ma è geografia (V≈0,76)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Debole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Dislivello / impianti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Correlazione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r≈0,17 / 0,10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Debole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Stagionalità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ANOVA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F≈2,9 (p≈0,034)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Debole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Sci notturno / bambini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t-test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nessuna differenza significativa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Trascurabile</a:t>
                      </a:r>
                    </a:p>
                  </a:txBody>
                  <a:tcPr anchor="ctr" marL="64008" marR="64008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A35"/>
                          </a:solidFill>
                          <a:latin typeface="Calibri"/>
                        </a:rPr>
                        <a:t>Copertura nevosa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Correlazione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A35"/>
                          </a:solidFill>
                          <a:latin typeface="Calibri"/>
                        </a:rPr>
                        <a:t>nessun legame — altitudine “mascherata”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Trascurabile</a:t>
                      </a:r>
                    </a:p>
                  </a:txBody>
                  <a:tcPr anchor="ctr" marL="64008" marR="64008" marT="9144" marB="9144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Fonti: Kaggle — Ski Resorts &amp; snow.csv  ·  World Bank — PIL pro capite 2022 (US$ correnti)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BFD9F0"/>
                </a:solidFill>
                <a:latin typeface="Calibri"/>
              </a:rPr>
              <a:t>ONESTÀ INTELLETTUALE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Limiti da tenere a 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841248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09728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3A5F"/>
                </a:solidFill>
                <a:latin typeface="Calibri"/>
              </a:rPr>
              <a:t>Foto di un solo anno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6858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 prezzi sono del 2022/23: nessuna evoluzione nel tempo.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87168"/>
            <a:ext cx="11064240" cy="841248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87168"/>
            <a:ext cx="109728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3A5F"/>
                </a:solidFill>
                <a:latin typeface="Calibri"/>
              </a:rPr>
              <a:t>Associazione, non causa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6858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 dati mostrano legami, non dimostrano cause dirette.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6"/>
            <a:ext cx="11064240" cy="841248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19856"/>
            <a:ext cx="109728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3A5F"/>
                </a:solidFill>
                <a:latin typeface="Calibri"/>
              </a:rPr>
              <a:t>Campione sbilanciato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19856"/>
            <a:ext cx="6858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Soprattutto Europa; Oceania (10) e Sud America (7) hanno pochi casi.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52544"/>
            <a:ext cx="11064240" cy="841248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52544"/>
            <a:ext cx="109728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52544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3A5F"/>
                </a:solidFill>
                <a:latin typeface="Calibri"/>
              </a:rPr>
              <a:t>Economia per Paese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52544"/>
            <a:ext cx="6858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Il PIL pro capite è una media nazionale, non del singolo comprensorio.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85232"/>
            <a:ext cx="11064240" cy="841248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85232"/>
            <a:ext cx="109728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285232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3A5F"/>
                </a:solidFill>
                <a:latin typeface="Calibri"/>
              </a:rPr>
              <a:t>Dati ricostruiti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85232"/>
            <a:ext cx="6858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9 prezzi mancanti e molte stagioni “da ripulire”; neve stimata per coordinate.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Cosa determina il prezzo di uno skipass?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BFD9F0"/>
                </a:solidFill>
                <a:latin typeface="Calibri"/>
              </a:rPr>
              <a:t>IN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A muovere il prezzo di uno skipass
sono la geografia e l'altitudine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E8B5A"/>
                </a:solidFill>
                <a:latin typeface="Calibri"/>
              </a:rPr>
              <a:t>non la neve, non i servizi.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0">
                <a:solidFill>
                  <a:srgbClr val="D6E6F2"/>
                </a:solidFill>
                <a:latin typeface="Calibri"/>
              </a:rPr>
              <a:t>Chi vuole risparmiare guarda dove e a che quota scia; chi fissa i prezzi sa che la posizione, non gli accessori, definisce quanto può chiedere.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Grazie  ·  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