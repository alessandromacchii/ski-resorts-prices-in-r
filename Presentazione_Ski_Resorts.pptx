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788920"/>
            <a:ext cx="12191695" cy="63500"/>
          </a:xfrm>
          <a:prstGeom prst="rect">
            <a:avLst/>
          </a:prstGeom>
          <a:solidFill>
            <a:srgbClr val="2E86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280160"/>
            <a:ext cx="103327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</a:pPr>
            <a:r>
              <a:rPr sz="1600" b="1">
                <a:solidFill>
                  <a:srgbClr val="BFD9F0"/>
                </a:solidFill>
                <a:latin typeface="Calibri"/>
              </a:rPr>
              <a:t>ANALISI STATISTICA  •  PROGETTO D'ESAME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828800"/>
            <a:ext cx="1069848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</a:pPr>
            <a:r>
              <a:rPr sz="4400" b="1">
                <a:solidFill>
                  <a:srgbClr val="FFFFFF"/>
                </a:solidFill>
                <a:latin typeface="Calibri"/>
              </a:rPr>
              <a:t>Cosa determina il prezzo
di uno skipass?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3063240"/>
            <a:ext cx="103327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</a:pPr>
            <a:r>
              <a:rPr sz="1900" b="0">
                <a:solidFill>
                  <a:srgbClr val="D6E6F2"/>
                </a:solidFill>
                <a:latin typeface="Calibri"/>
              </a:rPr>
              <a:t>Cosa dicono davvero i dati — e quali scelte se ne possono trarre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4114800"/>
            <a:ext cx="1033272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BFD9F0"/>
                </a:solidFill>
                <a:latin typeface="Calibri"/>
              </a:rPr>
              <a:t>499 comprensori sciistici nel mondo  •  fonte: Kaggle + World Bank (2022)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9DB8CF"/>
                </a:solidFill>
                <a:latin typeface="Calibri"/>
              </a:rPr>
              <a:t>Analisi svolta in R  ·  prezzi in euro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5852160"/>
            <a:ext cx="103327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</a:pPr>
            <a:r>
              <a:rPr sz="1500" b="1">
                <a:solidFill>
                  <a:srgbClr val="FFFFFF"/>
                </a:solidFill>
                <a:latin typeface="Calibri"/>
              </a:rPr>
              <a:t>Alessandro Macchi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43000"/>
            <a:ext cx="12191695" cy="50800"/>
          </a:xfrm>
          <a:prstGeom prst="rect">
            <a:avLst/>
          </a:prstGeom>
          <a:solidFill>
            <a:srgbClr val="2E86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46304"/>
            <a:ext cx="10972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300" b="1">
                <a:solidFill>
                  <a:srgbClr val="BFD9F0"/>
                </a:solidFill>
                <a:latin typeface="Calibri"/>
              </a:rPr>
              <a:t>IL PUNTO DI PARTENZA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20624"/>
            <a:ext cx="1106424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>
                <a:solidFill>
                  <a:srgbClr val="FFFFFF"/>
                </a:solidFill>
                <a:latin typeface="Calibri"/>
              </a:rPr>
              <a:t>La domanda, in parole semplici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417320"/>
            <a:ext cx="1106424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2000" b="1">
                <a:solidFill>
                  <a:srgbClr val="1F3A5F"/>
                </a:solidFill>
                <a:latin typeface="Calibri"/>
              </a:rPr>
              <a:t>Perché due skipass possono costare uno il doppio dell'altro?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333333"/>
                </a:solidFill>
                <a:latin typeface="Calibri"/>
              </a:rPr>
              <a:t>Abbiamo raccolto 499 comprensori in tutto il mondo e cercato i fattori che spostano davvero il prezzo. Per ragionare in modo ordinato, li abbiamo raggruppati in quattro “indiziati”.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2743200"/>
            <a:ext cx="2697480" cy="2194560"/>
          </a:xfrm>
          <a:prstGeom prst="rect">
            <a:avLst/>
          </a:prstGeom>
          <a:solidFill>
            <a:srgbClr val="EAF2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" y="2743200"/>
            <a:ext cx="2697480" cy="109728"/>
          </a:xfrm>
          <a:prstGeom prst="rect">
            <a:avLst/>
          </a:prstGeom>
          <a:solidFill>
            <a:srgbClr val="2E86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49808" y="3017520"/>
            <a:ext cx="2331720" cy="1737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600" b="1">
                <a:solidFill>
                  <a:srgbClr val="1F3A5F"/>
                </a:solidFill>
                <a:latin typeface="Calibri"/>
              </a:rPr>
              <a:t>1 · La montagna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333333"/>
                </a:solidFill>
                <a:latin typeface="Calibri"/>
              </a:rPr>
              <a:t>Quanto è alta, grande e attrezzata?</a:t>
            </a:r>
          </a:p>
        </p:txBody>
      </p:sp>
      <p:sp>
        <p:nvSpPr>
          <p:cNvPr id="10" name="Rectangle 9"/>
          <p:cNvSpPr/>
          <p:nvPr/>
        </p:nvSpPr>
        <p:spPr>
          <a:xfrm>
            <a:off x="3410712" y="2743200"/>
            <a:ext cx="2697480" cy="2194560"/>
          </a:xfrm>
          <a:prstGeom prst="rect">
            <a:avLst/>
          </a:prstGeom>
          <a:solidFill>
            <a:srgbClr val="EAF2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410712" y="2743200"/>
            <a:ext cx="2697480" cy="109728"/>
          </a:xfrm>
          <a:prstGeom prst="rect">
            <a:avLst/>
          </a:prstGeom>
          <a:solidFill>
            <a:srgbClr val="1E8B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611880" y="3017520"/>
            <a:ext cx="2331720" cy="1737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600" b="1">
                <a:solidFill>
                  <a:srgbClr val="1F3A5F"/>
                </a:solidFill>
                <a:latin typeface="Calibri"/>
              </a:rPr>
              <a:t>2 · Geografia e ricchezza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333333"/>
                </a:solidFill>
                <a:latin typeface="Calibri"/>
              </a:rPr>
              <a:t>Conta il Paese e quanto è ricco?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72784" y="2743200"/>
            <a:ext cx="2697480" cy="2194560"/>
          </a:xfrm>
          <a:prstGeom prst="rect">
            <a:avLst/>
          </a:prstGeom>
          <a:solidFill>
            <a:srgbClr val="EAF2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272784" y="2743200"/>
            <a:ext cx="2697480" cy="109728"/>
          </a:xfrm>
          <a:prstGeom prst="rect">
            <a:avLst/>
          </a:prstGeom>
          <a:solidFill>
            <a:srgbClr val="2E86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73952" y="3017520"/>
            <a:ext cx="2331720" cy="1737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600" b="1">
                <a:solidFill>
                  <a:srgbClr val="1F3A5F"/>
                </a:solidFill>
                <a:latin typeface="Calibri"/>
              </a:rPr>
              <a:t>3 · Servizi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333333"/>
                </a:solidFill>
                <a:latin typeface="Calibri"/>
              </a:rPr>
              <a:t>Snowpark, sci notturno… si pagano?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134856" y="2743200"/>
            <a:ext cx="2697480" cy="2194560"/>
          </a:xfrm>
          <a:prstGeom prst="rect">
            <a:avLst/>
          </a:prstGeom>
          <a:solidFill>
            <a:srgbClr val="EAF2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9134856" y="2743200"/>
            <a:ext cx="2697480" cy="109728"/>
          </a:xfrm>
          <a:prstGeom prst="rect">
            <a:avLst/>
          </a:prstGeom>
          <a:solidFill>
            <a:srgbClr val="1E8B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336024" y="3017520"/>
            <a:ext cx="2331720" cy="1737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600" b="1">
                <a:solidFill>
                  <a:srgbClr val="1F3A5F"/>
                </a:solidFill>
                <a:latin typeface="Calibri"/>
              </a:rPr>
              <a:t>4 · La neve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333333"/>
                </a:solidFill>
                <a:latin typeface="Calibri"/>
              </a:rPr>
              <a:t>Più neve = prezzo più alto?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" y="5212080"/>
            <a:ext cx="110642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</a:pPr>
            <a:r>
              <a:rPr sz="1400" b="1">
                <a:solidFill>
                  <a:srgbClr val="2E86C1"/>
                </a:solidFill>
                <a:latin typeface="Calibri"/>
              </a:rPr>
              <a:t>Per ogni indiziato la stessa domanda: ha un effetto reale sul prezzo? E quanto è grande?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900" b="0">
                <a:solidFill>
                  <a:srgbClr val="555555"/>
                </a:solidFill>
                <a:latin typeface="Calibri"/>
              </a:rPr>
              <a:t>Cosa determina il prezzo di uno skipass?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0" y="6446520"/>
            <a:ext cx="822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Bef>
                <a:spcPts val="0"/>
              </a:spcBef>
            </a:pPr>
            <a:r>
              <a:rPr sz="900" b="0">
                <a:solidFill>
                  <a:srgbClr val="555555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43000"/>
            <a:ext cx="12191695" cy="50800"/>
          </a:xfrm>
          <a:prstGeom prst="rect">
            <a:avLst/>
          </a:prstGeom>
          <a:solidFill>
            <a:srgbClr val="2E86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46304"/>
            <a:ext cx="10972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300" b="1">
                <a:solidFill>
                  <a:srgbClr val="BFD9F0"/>
                </a:solidFill>
                <a:latin typeface="Calibri"/>
              </a:rPr>
              <a:t>I DATI IN BREVE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20624"/>
            <a:ext cx="1106424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>
                <a:solidFill>
                  <a:srgbClr val="FFFFFF"/>
                </a:solidFill>
                <a:latin typeface="Calibri"/>
              </a:rPr>
              <a:t>Quanto costa, in media, uno skipass</a:t>
            </a:r>
          </a:p>
        </p:txBody>
      </p:sp>
      <p:pic>
        <p:nvPicPr>
          <p:cNvPr id="6" name="Picture 5" descr="plot_0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1554480"/>
            <a:ext cx="4663440" cy="46634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00800" y="6263640"/>
            <a:ext cx="51206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000" b="0">
                <a:solidFill>
                  <a:srgbClr val="555555"/>
                </a:solidFill>
                <a:latin typeface="Calibri"/>
              </a:rPr>
              <a:t>Distribuzione dei prezzi: tanti comprensori “normali”, pochi molto cari.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1554480"/>
            <a:ext cx="5486400" cy="960120"/>
          </a:xfrm>
          <a:prstGeom prst="rect">
            <a:avLst/>
          </a:prstGeom>
          <a:solidFill>
            <a:srgbClr val="EAF2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48640" y="1554480"/>
            <a:ext cx="109728" cy="960120"/>
          </a:xfrm>
          <a:prstGeom prst="rect">
            <a:avLst/>
          </a:prstGeom>
          <a:solidFill>
            <a:srgbClr val="2E86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1645920"/>
            <a:ext cx="21945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2800" b="1">
                <a:solidFill>
                  <a:srgbClr val="2E86C1"/>
                </a:solidFill>
                <a:latin typeface="Calibri"/>
              </a:rPr>
              <a:t>~50 €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926080" y="1645920"/>
            <a:ext cx="30175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1300" b="0">
                <a:solidFill>
                  <a:srgbClr val="333333"/>
                </a:solidFill>
                <a:latin typeface="Calibri"/>
              </a:rPr>
              <a:t>prezzo medio di uno skipass giornaliero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2651760"/>
            <a:ext cx="5486400" cy="960120"/>
          </a:xfrm>
          <a:prstGeom prst="rect">
            <a:avLst/>
          </a:prstGeom>
          <a:solidFill>
            <a:srgbClr val="EAF2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48640" y="2651760"/>
            <a:ext cx="109728" cy="960120"/>
          </a:xfrm>
          <a:prstGeom prst="rect">
            <a:avLst/>
          </a:prstGeom>
          <a:solidFill>
            <a:srgbClr val="2E86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2960" y="2743200"/>
            <a:ext cx="21945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2800" b="1">
                <a:solidFill>
                  <a:srgbClr val="2E86C1"/>
                </a:solidFill>
                <a:latin typeface="Calibri"/>
              </a:rPr>
              <a:t>46 €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926080" y="2743200"/>
            <a:ext cx="30175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1300" b="0">
                <a:solidFill>
                  <a:srgbClr val="333333"/>
                </a:solidFill>
                <a:latin typeface="Calibri"/>
              </a:rPr>
              <a:t>prezzo mediano (la metà costa meno di così)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48640" y="3749040"/>
            <a:ext cx="5486400" cy="960120"/>
          </a:xfrm>
          <a:prstGeom prst="rect">
            <a:avLst/>
          </a:prstGeom>
          <a:solidFill>
            <a:srgbClr val="EAF2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48640" y="3749040"/>
            <a:ext cx="109728" cy="960120"/>
          </a:xfrm>
          <a:prstGeom prst="rect">
            <a:avLst/>
          </a:prstGeom>
          <a:solidFill>
            <a:srgbClr val="2E86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" y="3840480"/>
            <a:ext cx="21945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2800" b="1">
                <a:solidFill>
                  <a:srgbClr val="2E86C1"/>
                </a:solidFill>
                <a:latin typeface="Calibri"/>
              </a:rPr>
              <a:t>14 – 141 €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926080" y="3840480"/>
            <a:ext cx="30175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1300" b="0">
                <a:solidFill>
                  <a:srgbClr val="333333"/>
                </a:solidFill>
                <a:latin typeface="Calibri"/>
              </a:rPr>
              <a:t>dal più economico al più caro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" y="4937760"/>
            <a:ext cx="548640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F3A5F"/>
                </a:solidFill>
                <a:latin typeface="Calibri"/>
              </a:rPr>
              <a:t>La curva è “sbilanciata a destra”: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333333"/>
                </a:solidFill>
                <a:latin typeface="Calibri"/>
              </a:rPr>
              <a:t>la maggior parte dei comprensori sta tra 30 e 60 €, ma una manciata di località premium tira su la media. La maggioranza dei dati riguarda l'Europa (360 su 499).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900" b="0">
                <a:solidFill>
                  <a:srgbClr val="555555"/>
                </a:solidFill>
                <a:latin typeface="Calibri"/>
              </a:rPr>
              <a:t>Cosa determina il prezzo di uno skipass?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972800" y="6446520"/>
            <a:ext cx="822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Bef>
                <a:spcPts val="0"/>
              </a:spcBef>
            </a:pPr>
            <a:r>
              <a:rPr sz="900" b="0">
                <a:solidFill>
                  <a:srgbClr val="555555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14400"/>
            <a:ext cx="12191695" cy="50800"/>
          </a:xfrm>
          <a:prstGeom prst="rect">
            <a:avLst/>
          </a:prstGeom>
          <a:solidFill>
            <a:srgbClr val="2E86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106984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</a:pPr>
            <a:r>
              <a:rPr sz="1600" b="1">
                <a:solidFill>
                  <a:srgbClr val="BFD9F0"/>
                </a:solidFill>
                <a:latin typeface="Calibri"/>
              </a:rPr>
              <a:t>IL RISULTATO PRINCIPALE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80160"/>
            <a:ext cx="1069848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</a:pPr>
            <a:r>
              <a:rPr sz="3600" b="1">
                <a:solidFill>
                  <a:srgbClr val="FFFFFF"/>
                </a:solidFill>
                <a:latin typeface="Calibri"/>
              </a:rPr>
              <a:t>Conta DOVE sei e QUANTO sei in alto.
Non la neve, non i servizi.</a:t>
            </a:r>
          </a:p>
        </p:txBody>
      </p:sp>
      <p:sp>
        <p:nvSpPr>
          <p:cNvPr id="6" name="Rectangle 5"/>
          <p:cNvSpPr/>
          <p:nvPr/>
        </p:nvSpPr>
        <p:spPr>
          <a:xfrm>
            <a:off x="868680" y="3291840"/>
            <a:ext cx="3383280" cy="2011680"/>
          </a:xfrm>
          <a:prstGeom prst="rect">
            <a:avLst/>
          </a:prstGeom>
          <a:solidFill>
            <a:srgbClr val="2A4A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43000" y="3520440"/>
            <a:ext cx="2834640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800" b="1">
                <a:solidFill>
                  <a:srgbClr val="FFFFFF"/>
                </a:solidFill>
                <a:latin typeface="Calibri"/>
              </a:rPr>
              <a:t>📍  La geografia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CFDFEC"/>
                </a:solidFill>
                <a:latin typeface="Calibri"/>
              </a:rPr>
              <a:t>il continente è il fattore n.1: il Nord America costa molto più dell'Europa</a:t>
            </a:r>
          </a:p>
        </p:txBody>
      </p:sp>
      <p:sp>
        <p:nvSpPr>
          <p:cNvPr id="8" name="Rectangle 7"/>
          <p:cNvSpPr/>
          <p:nvPr/>
        </p:nvSpPr>
        <p:spPr>
          <a:xfrm>
            <a:off x="4526280" y="3291840"/>
            <a:ext cx="3383280" cy="2011680"/>
          </a:xfrm>
          <a:prstGeom prst="rect">
            <a:avLst/>
          </a:prstGeom>
          <a:solidFill>
            <a:srgbClr val="2A4A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800600" y="3520440"/>
            <a:ext cx="2834640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800" b="1">
                <a:solidFill>
                  <a:srgbClr val="FFFFFF"/>
                </a:solidFill>
                <a:latin typeface="Calibri"/>
              </a:rPr>
              <a:t>⛰️  L'altitudine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CFDFEC"/>
                </a:solidFill>
                <a:latin typeface="Calibri"/>
              </a:rPr>
              <a:t>i comprensori più alti fanno pagare di più</a:t>
            </a:r>
          </a:p>
        </p:txBody>
      </p:sp>
      <p:sp>
        <p:nvSpPr>
          <p:cNvPr id="10" name="Rectangle 9"/>
          <p:cNvSpPr/>
          <p:nvPr/>
        </p:nvSpPr>
        <p:spPr>
          <a:xfrm>
            <a:off x="8183880" y="3291840"/>
            <a:ext cx="3383280" cy="2011680"/>
          </a:xfrm>
          <a:prstGeom prst="rect">
            <a:avLst/>
          </a:prstGeom>
          <a:solidFill>
            <a:srgbClr val="2A4A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458200" y="3520440"/>
            <a:ext cx="2834640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800" b="1">
                <a:solidFill>
                  <a:srgbClr val="FFFFFF"/>
                </a:solidFill>
                <a:latin typeface="Calibri"/>
              </a:rPr>
              <a:t>💰  La ricchezza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CFDFEC"/>
                </a:solidFill>
                <a:latin typeface="Calibri"/>
              </a:rPr>
              <a:t>nei Paesi più ricchi i prezzi salgono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5669280"/>
            <a:ext cx="106984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</a:pPr>
            <a:r>
              <a:rPr sz="1400" b="1">
                <a:solidFill>
                  <a:srgbClr val="BFD9F0"/>
                </a:solidFill>
                <a:latin typeface="Calibri"/>
              </a:rPr>
              <a:t>Tutto il resto — neve, sci notturno, stagione, numero di impianti — incide poco o nulla sul prezzo.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43000"/>
            <a:ext cx="12191695" cy="50800"/>
          </a:xfrm>
          <a:prstGeom prst="rect">
            <a:avLst/>
          </a:prstGeom>
          <a:solidFill>
            <a:srgbClr val="2E86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46304"/>
            <a:ext cx="10972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300" b="1">
                <a:solidFill>
                  <a:srgbClr val="BFD9F0"/>
                </a:solidFill>
                <a:latin typeface="Calibri"/>
              </a:rPr>
              <a:t>INDIZIATO 1 · LA MONTAGNA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20624"/>
            <a:ext cx="1106424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>
                <a:solidFill>
                  <a:srgbClr val="FFFFFF"/>
                </a:solidFill>
                <a:latin typeface="Calibri"/>
              </a:rPr>
              <a:t>Più in alto = più caro (ma la dimensione conta poco)</a:t>
            </a:r>
          </a:p>
        </p:txBody>
      </p:sp>
      <p:pic>
        <p:nvPicPr>
          <p:cNvPr id="6" name="Picture 5" descr="plot_0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92240" y="1417320"/>
            <a:ext cx="4754880" cy="475488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92240" y="6263640"/>
            <a:ext cx="51206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000" b="0">
                <a:solidFill>
                  <a:srgbClr val="555555"/>
                </a:solidFill>
                <a:latin typeface="Calibri"/>
              </a:rPr>
              <a:t>Ogni punto è un comprensorio: salendo di quota, i prezzi tendono a salire.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1554480"/>
            <a:ext cx="5577840" cy="1280160"/>
          </a:xfrm>
          <a:prstGeom prst="rect">
            <a:avLst/>
          </a:prstGeom>
          <a:solidFill>
            <a:srgbClr val="EAF2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48640" y="1554480"/>
            <a:ext cx="109728" cy="1280160"/>
          </a:xfrm>
          <a:prstGeom prst="rect">
            <a:avLst/>
          </a:prstGeom>
          <a:solidFill>
            <a:srgbClr val="1E8B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41248" y="1719072"/>
            <a:ext cx="512064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500" b="1">
                <a:solidFill>
                  <a:srgbClr val="1F3A5F"/>
                </a:solidFill>
                <a:latin typeface="Calibri"/>
              </a:rPr>
              <a:t>L'altitudine è il segnale più chiaro della montagna</a:t>
            </a:r>
          </a:p>
          <a:p>
            <a:pPr algn="l" lvl="1">
              <a:spcBef>
                <a:spcPts val="0"/>
              </a:spcBef>
              <a:spcAft>
                <a:spcPts val="300"/>
              </a:spcAft>
            </a:pPr>
            <a:r>
              <a:rPr sz="1250" b="0">
                <a:solidFill>
                  <a:srgbClr val="333333"/>
                </a:solidFill>
                <a:latin typeface="Calibri"/>
              </a:rPr>
              <a:t>• I comprensori più alti costano di più, in modo evidente</a:t>
            </a:r>
          </a:p>
          <a:p>
            <a:pPr algn="l" lvl="1">
              <a:spcBef>
                <a:spcPts val="0"/>
              </a:spcBef>
              <a:spcAft>
                <a:spcPts val="300"/>
              </a:spcAft>
            </a:pPr>
            <a:r>
              <a:rPr sz="1250" b="0">
                <a:solidFill>
                  <a:srgbClr val="333333"/>
                </a:solidFill>
                <a:latin typeface="Calibri"/>
              </a:rPr>
              <a:t>• Tra i più bassi e i più alti il divario arriva a ~40 €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3017520"/>
            <a:ext cx="5577840" cy="1143000"/>
          </a:xfrm>
          <a:prstGeom prst="rect">
            <a:avLst/>
          </a:prstGeom>
          <a:solidFill>
            <a:srgbClr val="EAF2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48640" y="3017520"/>
            <a:ext cx="109728" cy="1143000"/>
          </a:xfrm>
          <a:prstGeom prst="rect">
            <a:avLst/>
          </a:prstGeom>
          <a:solidFill>
            <a:srgbClr val="2E86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41248" y="3182112"/>
            <a:ext cx="5120640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500" b="1">
                <a:solidFill>
                  <a:srgbClr val="1F3A5F"/>
                </a:solidFill>
                <a:latin typeface="Calibri"/>
              </a:rPr>
              <a:t>La grandezza del comprensorio conta, ma meno</a:t>
            </a:r>
          </a:p>
          <a:p>
            <a:pPr algn="l" lvl="1">
              <a:spcBef>
                <a:spcPts val="0"/>
              </a:spcBef>
              <a:spcAft>
                <a:spcPts val="300"/>
              </a:spcAft>
            </a:pPr>
            <a:r>
              <a:rPr sz="1250" b="0">
                <a:solidFill>
                  <a:srgbClr val="333333"/>
                </a:solidFill>
                <a:latin typeface="Calibri"/>
              </a:rPr>
              <a:t>• Più piste = prezzo un po' più alto, legame moderato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4343400"/>
            <a:ext cx="5577840" cy="1325880"/>
          </a:xfrm>
          <a:prstGeom prst="rect">
            <a:avLst/>
          </a:prstGeom>
          <a:solidFill>
            <a:srgbClr val="EAF2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48640" y="4343400"/>
            <a:ext cx="109728" cy="1325880"/>
          </a:xfrm>
          <a:prstGeom prst="rect">
            <a:avLst/>
          </a:prstGeom>
          <a:solidFill>
            <a:srgbClr val="5555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41248" y="4507992"/>
            <a:ext cx="5120640" cy="1051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500" b="1">
                <a:solidFill>
                  <a:srgbClr val="555555"/>
                </a:solidFill>
                <a:latin typeface="Calibri"/>
              </a:rPr>
              <a:t>Sorprende quel che NON conta</a:t>
            </a:r>
          </a:p>
          <a:p>
            <a:pPr algn="l" lvl="1">
              <a:spcBef>
                <a:spcPts val="0"/>
              </a:spcBef>
              <a:spcAft>
                <a:spcPts val="300"/>
              </a:spcAft>
            </a:pPr>
            <a:r>
              <a:rPr sz="1250" b="0">
                <a:solidFill>
                  <a:srgbClr val="333333"/>
                </a:solidFill>
                <a:latin typeface="Calibri"/>
              </a:rPr>
              <a:t>• Il numero di impianti è quasi irrilevante</a:t>
            </a:r>
          </a:p>
          <a:p>
            <a:pPr algn="l" lvl="1">
              <a:spcBef>
                <a:spcPts val="0"/>
              </a:spcBef>
              <a:spcAft>
                <a:spcPts val="300"/>
              </a:spcAft>
            </a:pPr>
            <a:r>
              <a:rPr sz="1250" b="0">
                <a:solidFill>
                  <a:srgbClr val="333333"/>
                </a:solidFill>
                <a:latin typeface="Calibri"/>
              </a:rPr>
              <a:t>• Anche il dislivello incide pochissimo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900" b="0">
                <a:solidFill>
                  <a:srgbClr val="555555"/>
                </a:solidFill>
                <a:latin typeface="Calibri"/>
              </a:rPr>
              <a:t>Cosa determina il prezzo di uno skipass?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972800" y="6446520"/>
            <a:ext cx="822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Bef>
                <a:spcPts val="0"/>
              </a:spcBef>
            </a:pPr>
            <a:r>
              <a:rPr sz="900" b="0">
                <a:solidFill>
                  <a:srgbClr val="555555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1E8B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43000"/>
            <a:ext cx="12191695" cy="50800"/>
          </a:xfrm>
          <a:prstGeom prst="rect">
            <a:avLst/>
          </a:prstGeom>
          <a:solidFill>
            <a:srgbClr val="2E86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46304"/>
            <a:ext cx="10972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300" b="1">
                <a:solidFill>
                  <a:srgbClr val="BFD9F0"/>
                </a:solidFill>
                <a:latin typeface="Calibri"/>
              </a:rPr>
              <a:t>INDIZIATO 2 · GEOGRAFIA E RICCHEZZA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20624"/>
            <a:ext cx="1106424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>
                <a:solidFill>
                  <a:srgbClr val="FFFFFF"/>
                </a:solidFill>
                <a:latin typeface="Calibri"/>
              </a:rPr>
              <a:t>Il fattore più potente di tutta l'analisi</a:t>
            </a:r>
          </a:p>
        </p:txBody>
      </p:sp>
      <p:pic>
        <p:nvPicPr>
          <p:cNvPr id="6" name="Picture 5" descr="plot_0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0" y="1371600"/>
            <a:ext cx="4937760" cy="49377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583680" y="6309360"/>
            <a:ext cx="51206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000" b="0">
                <a:solidFill>
                  <a:srgbClr val="555555"/>
                </a:solidFill>
                <a:latin typeface="Calibri"/>
              </a:rPr>
              <a:t>Prezzo per continente: Nord America e Oceania nettamente sopra l'Europa.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1508760"/>
            <a:ext cx="5760720" cy="1417320"/>
          </a:xfrm>
          <a:prstGeom prst="rect">
            <a:avLst/>
          </a:prstGeom>
          <a:solidFill>
            <a:srgbClr val="EAF2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48640" y="1508760"/>
            <a:ext cx="109728" cy="1417320"/>
          </a:xfrm>
          <a:prstGeom prst="rect">
            <a:avLst/>
          </a:prstGeom>
          <a:solidFill>
            <a:srgbClr val="1E8B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41248" y="1673352"/>
            <a:ext cx="5303520" cy="1143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600" b="1">
                <a:solidFill>
                  <a:srgbClr val="1E8B5A"/>
                </a:solidFill>
                <a:latin typeface="Calibri"/>
              </a:rPr>
              <a:t>+36 €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500" b="1">
                <a:solidFill>
                  <a:srgbClr val="1F3A5F"/>
                </a:solidFill>
                <a:latin typeface="Calibri"/>
              </a:rPr>
              <a:t>Il continente fa la differenza più grande</a:t>
            </a:r>
          </a:p>
          <a:p>
            <a:pPr algn="l" lvl="1">
              <a:spcBef>
                <a:spcPts val="0"/>
              </a:spcBef>
              <a:spcAft>
                <a:spcPts val="300"/>
              </a:spcAft>
            </a:pPr>
            <a:r>
              <a:rPr sz="1250" b="0">
                <a:solidFill>
                  <a:srgbClr val="333333"/>
                </a:solidFill>
                <a:latin typeface="Calibri"/>
              </a:rPr>
              <a:t>• Nord America in media ~36 € più dell'Europa</a:t>
            </a:r>
          </a:p>
          <a:p>
            <a:pPr algn="l" lvl="1">
              <a:spcBef>
                <a:spcPts val="0"/>
              </a:spcBef>
              <a:spcAft>
                <a:spcPts val="300"/>
              </a:spcAft>
            </a:pPr>
            <a:r>
              <a:rPr sz="1250" b="0">
                <a:solidFill>
                  <a:srgbClr val="333333"/>
                </a:solidFill>
                <a:latin typeface="Calibri"/>
              </a:rPr>
              <a:t>• È lo scarto più ampio dell'intero studio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3154680"/>
            <a:ext cx="5760720" cy="1097280"/>
          </a:xfrm>
          <a:prstGeom prst="rect">
            <a:avLst/>
          </a:prstGeom>
          <a:solidFill>
            <a:srgbClr val="EAF2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48640" y="3154680"/>
            <a:ext cx="109728" cy="1097280"/>
          </a:xfrm>
          <a:prstGeom prst="rect">
            <a:avLst/>
          </a:prstGeom>
          <a:solidFill>
            <a:srgbClr val="2E86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41248" y="3319272"/>
            <a:ext cx="530352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500" b="1">
                <a:solidFill>
                  <a:srgbClr val="1F3A5F"/>
                </a:solidFill>
                <a:latin typeface="Calibri"/>
              </a:rPr>
              <a:t>La ricchezza del Paese pesa</a:t>
            </a:r>
          </a:p>
          <a:p>
            <a:pPr algn="l" lvl="1">
              <a:spcBef>
                <a:spcPts val="0"/>
              </a:spcBef>
              <a:spcAft>
                <a:spcPts val="300"/>
              </a:spcAft>
            </a:pPr>
            <a:r>
              <a:rPr sz="1250" b="0">
                <a:solidFill>
                  <a:srgbClr val="333333"/>
                </a:solidFill>
                <a:latin typeface="Calibri"/>
              </a:rPr>
              <a:t>• Nei Paesi con PIL pro capite più alto i prezzi salgono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4434840"/>
            <a:ext cx="5760720" cy="1234440"/>
          </a:xfrm>
          <a:prstGeom prst="rect">
            <a:avLst/>
          </a:prstGeom>
          <a:solidFill>
            <a:srgbClr val="EAF2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48640" y="4434840"/>
            <a:ext cx="109728" cy="1234440"/>
          </a:xfrm>
          <a:prstGeom prst="rect">
            <a:avLst/>
          </a:prstGeom>
          <a:solidFill>
            <a:srgbClr val="5555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41248" y="4599432"/>
            <a:ext cx="5303520" cy="960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500" b="1">
                <a:solidFill>
                  <a:srgbClr val="555555"/>
                </a:solidFill>
                <a:latin typeface="Calibri"/>
              </a:rPr>
              <a:t>Il costo della vita locale, invece, no</a:t>
            </a:r>
          </a:p>
          <a:p>
            <a:pPr algn="l" lvl="1">
              <a:spcBef>
                <a:spcPts val="0"/>
              </a:spcBef>
              <a:spcAft>
                <a:spcPts val="300"/>
              </a:spcAft>
            </a:pPr>
            <a:r>
              <a:rPr sz="1250" b="0">
                <a:solidFill>
                  <a:srgbClr val="333333"/>
                </a:solidFill>
                <a:latin typeface="Calibri"/>
              </a:rPr>
              <a:t>• Vivere in un Paese “caro” non significa skipass più caro</a:t>
            </a:r>
          </a:p>
          <a:p>
            <a:pPr algn="l" lvl="1">
              <a:spcBef>
                <a:spcPts val="0"/>
              </a:spcBef>
              <a:spcAft>
                <a:spcPts val="300"/>
              </a:spcAft>
            </a:pPr>
            <a:r>
              <a:rPr sz="1250" b="0">
                <a:solidFill>
                  <a:srgbClr val="333333"/>
                </a:solidFill>
                <a:latin typeface="Calibri"/>
              </a:rPr>
              <a:t>• Conta la ricchezza, non il carovita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900" b="0">
                <a:solidFill>
                  <a:srgbClr val="555555"/>
                </a:solidFill>
                <a:latin typeface="Calibri"/>
              </a:rPr>
              <a:t>Cosa determina il prezzo di uno skipass?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972800" y="6446520"/>
            <a:ext cx="822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Bef>
                <a:spcPts val="0"/>
              </a:spcBef>
            </a:pPr>
            <a:r>
              <a:rPr sz="900" b="0">
                <a:solidFill>
                  <a:srgbClr val="555555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43000"/>
            <a:ext cx="12191695" cy="50800"/>
          </a:xfrm>
          <a:prstGeom prst="rect">
            <a:avLst/>
          </a:prstGeom>
          <a:solidFill>
            <a:srgbClr val="2E86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46304"/>
            <a:ext cx="10972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300" b="1">
                <a:solidFill>
                  <a:srgbClr val="BFD9F0"/>
                </a:solidFill>
                <a:latin typeface="Calibri"/>
              </a:rPr>
              <a:t>INDIZIATO 3 · I SERVIZI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20624"/>
            <a:ext cx="1106424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>
                <a:solidFill>
                  <a:srgbClr val="FFFFFF"/>
                </a:solidFill>
                <a:latin typeface="Calibri"/>
              </a:rPr>
              <a:t>Solo lo snowpark si fa pagare davvero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554480"/>
            <a:ext cx="11064240" cy="868680"/>
          </a:xfrm>
          <a:prstGeom prst="rect">
            <a:avLst/>
          </a:prstGeom>
          <a:solidFill>
            <a:srgbClr val="EAF2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1554480"/>
            <a:ext cx="109728" cy="868680"/>
          </a:xfrm>
          <a:prstGeom prst="rect">
            <a:avLst/>
          </a:prstGeom>
          <a:solidFill>
            <a:srgbClr val="1E8B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1554480"/>
            <a:ext cx="310896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1700" b="1">
                <a:solidFill>
                  <a:srgbClr val="1F3A5F"/>
                </a:solidFill>
                <a:latin typeface="Calibri"/>
              </a:rPr>
              <a:t>Snowpark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931920" y="1554480"/>
            <a:ext cx="164592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2200" b="1">
                <a:solidFill>
                  <a:srgbClr val="1E8B5A"/>
                </a:solidFill>
                <a:latin typeface="Calibri"/>
              </a:rPr>
              <a:t>+9 €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0" y="1554480"/>
            <a:ext cx="576072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1350" b="0">
                <a:solidFill>
                  <a:srgbClr val="333333"/>
                </a:solidFill>
                <a:latin typeface="Calibri"/>
              </a:rPr>
              <a:t>Premio reale: chi ha lo snowpark fa pagare di più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2532888"/>
            <a:ext cx="11064240" cy="868680"/>
          </a:xfrm>
          <a:prstGeom prst="rect">
            <a:avLst/>
          </a:prstGeom>
          <a:solidFill>
            <a:srgbClr val="EAF2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48640" y="2532888"/>
            <a:ext cx="109728" cy="868680"/>
          </a:xfrm>
          <a:prstGeom prst="rect">
            <a:avLst/>
          </a:prstGeom>
          <a:solidFill>
            <a:srgbClr val="5555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2532888"/>
            <a:ext cx="310896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1700" b="1">
                <a:solidFill>
                  <a:srgbClr val="1F3A5F"/>
                </a:solidFill>
                <a:latin typeface="Calibri"/>
              </a:rPr>
              <a:t>Sci notturno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931920" y="2532888"/>
            <a:ext cx="164592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2200" b="1">
                <a:solidFill>
                  <a:srgbClr val="555555"/>
                </a:solidFill>
                <a:latin typeface="Calibri"/>
              </a:rPr>
              <a:t>0 €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669280" y="2532888"/>
            <a:ext cx="576072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1350" b="0">
                <a:solidFill>
                  <a:srgbClr val="333333"/>
                </a:solidFill>
                <a:latin typeface="Calibri"/>
              </a:rPr>
              <a:t>Nessuna differenza di prezzo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48640" y="3511296"/>
            <a:ext cx="11064240" cy="868680"/>
          </a:xfrm>
          <a:prstGeom prst="rect">
            <a:avLst/>
          </a:prstGeom>
          <a:solidFill>
            <a:srgbClr val="EAF2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48640" y="3511296"/>
            <a:ext cx="109728" cy="868680"/>
          </a:xfrm>
          <a:prstGeom prst="rect">
            <a:avLst/>
          </a:prstGeom>
          <a:solidFill>
            <a:srgbClr val="5555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68680" y="3511296"/>
            <a:ext cx="310896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1700" b="1">
                <a:solidFill>
                  <a:srgbClr val="1F3A5F"/>
                </a:solidFill>
                <a:latin typeface="Calibri"/>
              </a:rPr>
              <a:t>Adatto ai bambini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931920" y="3511296"/>
            <a:ext cx="164592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2200" b="1">
                <a:solidFill>
                  <a:srgbClr val="555555"/>
                </a:solidFill>
                <a:latin typeface="Calibri"/>
              </a:rPr>
              <a:t>0 €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669280" y="3511296"/>
            <a:ext cx="576072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1350" b="0">
                <a:solidFill>
                  <a:srgbClr val="333333"/>
                </a:solidFill>
                <a:latin typeface="Calibri"/>
              </a:rPr>
              <a:t>Quasi tutti ce l'hanno (495 su 499): non distingue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48640" y="4489704"/>
            <a:ext cx="11064240" cy="868680"/>
          </a:xfrm>
          <a:prstGeom prst="rect">
            <a:avLst/>
          </a:prstGeom>
          <a:solidFill>
            <a:srgbClr val="EAF2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48640" y="4489704"/>
            <a:ext cx="109728" cy="86868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68680" y="4489704"/>
            <a:ext cx="310896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1700" b="1">
                <a:solidFill>
                  <a:srgbClr val="1F3A5F"/>
                </a:solidFill>
                <a:latin typeface="Calibri"/>
              </a:rPr>
              <a:t>Sci estivo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931920" y="4489704"/>
            <a:ext cx="164592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2200" b="1">
                <a:solidFill>
                  <a:srgbClr val="C0392B"/>
                </a:solidFill>
                <a:latin typeface="Calibri"/>
              </a:rPr>
              <a:t>“+13 €”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669280" y="4489704"/>
            <a:ext cx="576072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1350" b="0">
                <a:solidFill>
                  <a:srgbClr val="333333"/>
                </a:solidFill>
                <a:latin typeface="Calibri"/>
              </a:rPr>
              <a:t>Sembra un premio… ma è solo geografia (vedi sotto)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48640" y="5623560"/>
            <a:ext cx="11064240" cy="86868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22960" y="5623560"/>
            <a:ext cx="1051560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Attenzione al falso indiziato: lo “sci estivo” non è una scelta commerciale che alza il prezzo.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CFDFEC"/>
                </a:solidFill>
                <a:latin typeface="Calibri"/>
              </a:rPr>
              <a:t>È legatissimo alla geografia (ghiacciai, emisfero sud): è la posizione a spiegarlo, non il servizio.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900" b="0">
                <a:solidFill>
                  <a:srgbClr val="555555"/>
                </a:solidFill>
                <a:latin typeface="Calibri"/>
              </a:rPr>
              <a:t>Cosa determina il prezzo di uno skipass?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972800" y="6446520"/>
            <a:ext cx="822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Bef>
                <a:spcPts val="0"/>
              </a:spcBef>
            </a:pPr>
            <a:r>
              <a:rPr sz="900" b="0">
                <a:solidFill>
                  <a:srgbClr val="555555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1E8B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43000"/>
            <a:ext cx="12191695" cy="50800"/>
          </a:xfrm>
          <a:prstGeom prst="rect">
            <a:avLst/>
          </a:prstGeom>
          <a:solidFill>
            <a:srgbClr val="2E86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46304"/>
            <a:ext cx="10972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300" b="1">
                <a:solidFill>
                  <a:srgbClr val="BFD9F0"/>
                </a:solidFill>
                <a:latin typeface="Calibri"/>
              </a:rPr>
              <a:t>INDIZIATO 4 · LA NEVE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20624"/>
            <a:ext cx="1106424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>
                <a:solidFill>
                  <a:srgbClr val="FFFFFF"/>
                </a:solidFill>
                <a:latin typeface="Calibri"/>
              </a:rPr>
              <a:t>La sorpresa: la neve NON spiega il prezzo</a:t>
            </a:r>
          </a:p>
        </p:txBody>
      </p:sp>
      <p:pic>
        <p:nvPicPr>
          <p:cNvPr id="6" name="Picture 5" descr="plot_0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92240" y="1417320"/>
            <a:ext cx="4754880" cy="475488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92240" y="6309360"/>
            <a:ext cx="51206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000" b="0">
                <a:solidFill>
                  <a:srgbClr val="555555"/>
                </a:solidFill>
                <a:latin typeface="Calibri"/>
              </a:rPr>
              <a:t>Più neve non vuol dire prezzo più alto: la nuvola di punti è piatta.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1554480"/>
            <a:ext cx="5577840" cy="1371600"/>
          </a:xfrm>
          <a:prstGeom prst="rect">
            <a:avLst/>
          </a:prstGeom>
          <a:solidFill>
            <a:srgbClr val="EAF2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48640" y="1554480"/>
            <a:ext cx="109728" cy="1371600"/>
          </a:xfrm>
          <a:prstGeom prst="rect">
            <a:avLst/>
          </a:prstGeom>
          <a:solidFill>
            <a:srgbClr val="2E86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41248" y="1719072"/>
            <a:ext cx="512064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500" b="1">
                <a:solidFill>
                  <a:srgbClr val="1F3A5F"/>
                </a:solidFill>
                <a:latin typeface="Calibri"/>
              </a:rPr>
              <a:t>Ci si aspettava: più neve, prezzo più alto</a:t>
            </a:r>
          </a:p>
          <a:p>
            <a:pPr algn="l" lvl="1">
              <a:spcBef>
                <a:spcPts val="0"/>
              </a:spcBef>
              <a:spcAft>
                <a:spcPts val="300"/>
              </a:spcAft>
            </a:pPr>
            <a:r>
              <a:rPr sz="1250" b="0">
                <a:solidFill>
                  <a:srgbClr val="333333"/>
                </a:solidFill>
                <a:latin typeface="Calibri"/>
              </a:rPr>
              <a:t>• Sembra logico pagare di più dove la neve è garantita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3063240"/>
            <a:ext cx="5577840" cy="1234440"/>
          </a:xfrm>
          <a:prstGeom prst="rect">
            <a:avLst/>
          </a:prstGeom>
          <a:solidFill>
            <a:srgbClr val="EAF2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48640" y="3063240"/>
            <a:ext cx="109728" cy="1234440"/>
          </a:xfrm>
          <a:prstGeom prst="rect">
            <a:avLst/>
          </a:prstGeom>
          <a:solidFill>
            <a:srgbClr val="1E8B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41248" y="3227832"/>
            <a:ext cx="5120640" cy="960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500" b="1">
                <a:solidFill>
                  <a:srgbClr val="1E8B5A"/>
                </a:solidFill>
                <a:latin typeface="Calibri"/>
              </a:rPr>
              <a:t>I dati dicono il contrario</a:t>
            </a:r>
          </a:p>
          <a:p>
            <a:pPr algn="l" lvl="1">
              <a:spcBef>
                <a:spcPts val="0"/>
              </a:spcBef>
              <a:spcAft>
                <a:spcPts val="300"/>
              </a:spcAft>
            </a:pPr>
            <a:r>
              <a:rPr sz="1250" b="0">
                <a:solidFill>
                  <a:srgbClr val="333333"/>
                </a:solidFill>
                <a:latin typeface="Calibri"/>
              </a:rPr>
              <a:t>• Tra quantità di neve e prezzo non c'è legame utile</a:t>
            </a:r>
          </a:p>
          <a:p>
            <a:pPr algn="l" lvl="1">
              <a:spcBef>
                <a:spcPts val="0"/>
              </a:spcBef>
              <a:spcAft>
                <a:spcPts val="300"/>
              </a:spcAft>
            </a:pPr>
            <a:r>
              <a:rPr sz="1250" b="0">
                <a:solidFill>
                  <a:srgbClr val="333333"/>
                </a:solidFill>
                <a:latin typeface="Calibri"/>
              </a:rPr>
              <a:t>• Comprensori molto nevosi possono costare poco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4434840"/>
            <a:ext cx="5577840" cy="1325880"/>
          </a:xfrm>
          <a:prstGeom prst="rect">
            <a:avLst/>
          </a:prstGeom>
          <a:solidFill>
            <a:srgbClr val="EAF2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48640" y="4434840"/>
            <a:ext cx="109728" cy="1325880"/>
          </a:xfrm>
          <a:prstGeom prst="rect">
            <a:avLst/>
          </a:prstGeom>
          <a:solidFill>
            <a:srgbClr val="5555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41248" y="4599432"/>
            <a:ext cx="5120640" cy="1051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500" b="1">
                <a:solidFill>
                  <a:srgbClr val="555555"/>
                </a:solidFill>
                <a:latin typeface="Calibri"/>
              </a:rPr>
              <a:t>Perché? È l'altitudine “mascherata”</a:t>
            </a:r>
          </a:p>
          <a:p>
            <a:pPr algn="l" lvl="1">
              <a:spcBef>
                <a:spcPts val="0"/>
              </a:spcBef>
              <a:spcAft>
                <a:spcPts val="300"/>
              </a:spcAft>
            </a:pPr>
            <a:r>
              <a:rPr sz="1250" b="0">
                <a:solidFill>
                  <a:srgbClr val="333333"/>
                </a:solidFill>
                <a:latin typeface="Calibri"/>
              </a:rPr>
              <a:t>• La neve dipende dalla quota, e la quota è già nel prezzo</a:t>
            </a:r>
          </a:p>
          <a:p>
            <a:pPr algn="l" lvl="1">
              <a:spcBef>
                <a:spcPts val="0"/>
              </a:spcBef>
              <a:spcAft>
                <a:spcPts val="300"/>
              </a:spcAft>
            </a:pPr>
            <a:r>
              <a:rPr sz="1250" b="0">
                <a:solidFill>
                  <a:srgbClr val="333333"/>
                </a:solidFill>
                <a:latin typeface="Calibri"/>
              </a:rPr>
              <a:t>• Una volta considerata l'altitudine, la neve non aggiunge nulla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900" b="0">
                <a:solidFill>
                  <a:srgbClr val="555555"/>
                </a:solidFill>
                <a:latin typeface="Calibri"/>
              </a:rPr>
              <a:t>Cosa determina il prezzo di uno skipass?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972800" y="6446520"/>
            <a:ext cx="822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Bef>
                <a:spcPts val="0"/>
              </a:spcBef>
            </a:pPr>
            <a:r>
              <a:rPr sz="900" b="0">
                <a:solidFill>
                  <a:srgbClr val="555555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43000"/>
            <a:ext cx="12191695" cy="50800"/>
          </a:xfrm>
          <a:prstGeom prst="rect">
            <a:avLst/>
          </a:prstGeom>
          <a:solidFill>
            <a:srgbClr val="2E86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46304"/>
            <a:ext cx="10972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300" b="1">
                <a:solidFill>
                  <a:srgbClr val="BFD9F0"/>
                </a:solidFill>
                <a:latin typeface="Calibri"/>
              </a:rPr>
              <a:t>LA PROVA DEL NOVE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20624"/>
            <a:ext cx="1106424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>
                <a:solidFill>
                  <a:srgbClr val="FFFFFF"/>
                </a:solidFill>
                <a:latin typeface="Calibri"/>
              </a:rPr>
              <a:t>Guardando tutti i fattori insieme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371600"/>
            <a:ext cx="1106424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400" b="0">
                <a:solidFill>
                  <a:srgbClr val="333333"/>
                </a:solidFill>
                <a:latin typeface="Calibri"/>
              </a:rPr>
              <a:t>Un test bivariato guarda un fattore alla volta e può ingannare: il Nord America è più caro per la posizione, o perché quei comprensori sono anche più alti e grandi?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F3A5F"/>
                </a:solidFill>
                <a:latin typeface="Calibri"/>
              </a:rPr>
              <a:t>Mettendo tutto in un unico modello, ogni fattore viene “pesato” al netto degli altri. Ecco cosa resiste: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2743200"/>
            <a:ext cx="5532120" cy="2743200"/>
          </a:xfrm>
          <a:prstGeom prst="rect">
            <a:avLst/>
          </a:prstGeom>
          <a:solidFill>
            <a:srgbClr val="E8F5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" y="2743200"/>
            <a:ext cx="5532120" cy="548640"/>
          </a:xfrm>
          <a:prstGeom prst="rect">
            <a:avLst/>
          </a:prstGeom>
          <a:solidFill>
            <a:srgbClr val="1E8B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2743200"/>
            <a:ext cx="521208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1500" b="1">
                <a:solidFill>
                  <a:srgbClr val="FFFFFF"/>
                </a:solidFill>
                <a:latin typeface="Calibri"/>
              </a:rPr>
              <a:t>✓  Restano i veri motori del prezzo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3474720"/>
            <a:ext cx="5029200" cy="1920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lvl="1">
              <a:spcBef>
                <a:spcPts val="0"/>
              </a:spcBef>
              <a:spcAft>
                <a:spcPts val="700"/>
              </a:spcAft>
            </a:pPr>
            <a:r>
              <a:rPr sz="1400" b="0">
                <a:solidFill>
                  <a:srgbClr val="333333"/>
                </a:solidFill>
                <a:latin typeface="Calibri"/>
              </a:rPr>
              <a:t>• Altitudine — più si sale, più si paga</a:t>
            </a:r>
          </a:p>
          <a:p>
            <a:pPr algn="l" lvl="1">
              <a:spcBef>
                <a:spcPts val="0"/>
              </a:spcBef>
              <a:spcAft>
                <a:spcPts val="700"/>
              </a:spcAft>
            </a:pPr>
            <a:r>
              <a:rPr sz="1400" b="0">
                <a:solidFill>
                  <a:srgbClr val="333333"/>
                </a:solidFill>
                <a:latin typeface="Calibri"/>
              </a:rPr>
              <a:t>• Geografia — il Nord America resta caro a sé</a:t>
            </a:r>
          </a:p>
          <a:p>
            <a:pPr algn="l" lvl="1">
              <a:spcBef>
                <a:spcPts val="0"/>
              </a:spcBef>
              <a:spcAft>
                <a:spcPts val="700"/>
              </a:spcAft>
            </a:pPr>
            <a:r>
              <a:rPr sz="1400" b="0">
                <a:solidFill>
                  <a:srgbClr val="333333"/>
                </a:solidFill>
                <a:latin typeface="Calibri"/>
              </a:rPr>
              <a:t>• Ricchezza del Paese (PIL pro capite)</a:t>
            </a:r>
          </a:p>
          <a:p>
            <a:pPr algn="l" lvl="1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333333"/>
                </a:solidFill>
                <a:latin typeface="Calibri"/>
              </a:rPr>
              <a:t>• Snowpark — un piccolo premio reale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63640" y="2743200"/>
            <a:ext cx="5349240" cy="27432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263640" y="2743200"/>
            <a:ext cx="5349240" cy="548640"/>
          </a:xfrm>
          <a:prstGeom prst="rect">
            <a:avLst/>
          </a:prstGeom>
          <a:solidFill>
            <a:srgbClr val="5555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46520" y="2743200"/>
            <a:ext cx="50292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1500" b="1">
                <a:solidFill>
                  <a:srgbClr val="FFFFFF"/>
                </a:solidFill>
                <a:latin typeface="Calibri"/>
              </a:rPr>
              <a:t>✗  Svaniscono una volta isolati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0" y="3474720"/>
            <a:ext cx="4937760" cy="1920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lvl="1">
              <a:spcBef>
                <a:spcPts val="0"/>
              </a:spcBef>
              <a:spcAft>
                <a:spcPts val="700"/>
              </a:spcAft>
            </a:pPr>
            <a:r>
              <a:rPr sz="1400" b="0">
                <a:solidFill>
                  <a:srgbClr val="555555"/>
                </a:solidFill>
                <a:latin typeface="Calibri"/>
              </a:rPr>
              <a:t>• La neve — nessun effetto proprio</a:t>
            </a:r>
          </a:p>
          <a:p>
            <a:pPr algn="l" lvl="1">
              <a:spcBef>
                <a:spcPts val="0"/>
              </a:spcBef>
              <a:spcAft>
                <a:spcPts val="700"/>
              </a:spcAft>
            </a:pPr>
            <a:r>
              <a:rPr sz="1400" b="0">
                <a:solidFill>
                  <a:srgbClr val="555555"/>
                </a:solidFill>
                <a:latin typeface="Calibri"/>
              </a:rPr>
              <a:t>• Sci estivo — era solo geografia</a:t>
            </a:r>
          </a:p>
          <a:p>
            <a:pPr algn="l" lvl="1">
              <a:spcBef>
                <a:spcPts val="0"/>
              </a:spcBef>
              <a:spcAft>
                <a:spcPts val="700"/>
              </a:spcAft>
            </a:pPr>
            <a:r>
              <a:rPr sz="1400" b="0">
                <a:solidFill>
                  <a:srgbClr val="555555"/>
                </a:solidFill>
                <a:latin typeface="Calibri"/>
              </a:rPr>
              <a:t>• Costo della vita (PPP), sci notturno</a:t>
            </a:r>
          </a:p>
          <a:p>
            <a:pPr algn="l" lvl="1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555555"/>
                </a:solidFill>
                <a:latin typeface="Calibri"/>
              </a:rPr>
              <a:t>• Stagione, numero di impianti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8640" y="5715000"/>
            <a:ext cx="11064240" cy="64008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2960" y="5715000"/>
            <a:ext cx="1051560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1400" b="1">
                <a:solidFill>
                  <a:srgbClr val="FFFFFF"/>
                </a:solidFill>
                <a:latin typeface="Calibri"/>
              </a:rPr>
              <a:t>Questi pochi fattori, insieme, spiegano circa il 70% delle differenze di prezzo tra comprensori.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900" b="0">
                <a:solidFill>
                  <a:srgbClr val="555555"/>
                </a:solidFill>
                <a:latin typeface="Calibri"/>
              </a:rPr>
              <a:t>Cosa determina il prezzo di uno skipass?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972800" y="6446520"/>
            <a:ext cx="822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Bef>
                <a:spcPts val="0"/>
              </a:spcBef>
            </a:pPr>
            <a:r>
              <a:rPr sz="900" b="0">
                <a:solidFill>
                  <a:srgbClr val="555555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43000"/>
            <a:ext cx="12191695" cy="50800"/>
          </a:xfrm>
          <a:prstGeom prst="rect">
            <a:avLst/>
          </a:prstGeom>
          <a:solidFill>
            <a:srgbClr val="2E86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46304"/>
            <a:ext cx="10972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300" b="1">
                <a:solidFill>
                  <a:srgbClr val="BFD9F0"/>
                </a:solidFill>
                <a:latin typeface="Calibri"/>
              </a:rPr>
              <a:t>COSA FARNE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20624"/>
            <a:ext cx="1106424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>
                <a:solidFill>
                  <a:srgbClr val="FFFFFF"/>
                </a:solidFill>
                <a:latin typeface="Calibri"/>
              </a:rPr>
              <a:t>Indicazioni pratiche per chi deve decidere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463040"/>
            <a:ext cx="11064240" cy="1481328"/>
          </a:xfrm>
          <a:prstGeom prst="rect">
            <a:avLst/>
          </a:prstGeom>
          <a:solidFill>
            <a:srgbClr val="EAF2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1463040"/>
            <a:ext cx="109728" cy="1481328"/>
          </a:xfrm>
          <a:prstGeom prst="rect">
            <a:avLst/>
          </a:prstGeom>
          <a:solidFill>
            <a:srgbClr val="2E86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1572768"/>
            <a:ext cx="104241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>
                <a:solidFill>
                  <a:srgbClr val="2E86C1"/>
                </a:solidFill>
                <a:latin typeface="Calibri"/>
              </a:rPr>
              <a:t>🎿  Se sei uno sciatore attento al budget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965960"/>
            <a:ext cx="10515600" cy="960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lvl="1">
              <a:spcBef>
                <a:spcPts val="0"/>
              </a:spcBef>
              <a:spcAft>
                <a:spcPts val="200"/>
              </a:spcAft>
            </a:pPr>
            <a:r>
              <a:rPr sz="1250" b="0">
                <a:solidFill>
                  <a:srgbClr val="333333"/>
                </a:solidFill>
                <a:latin typeface="Calibri"/>
              </a:rPr>
              <a:t>• Sciare in Europa o Asia costa molto meno che in Nord America</a:t>
            </a:r>
          </a:p>
          <a:p>
            <a:pPr algn="l" lvl="1">
              <a:spcBef>
                <a:spcPts val="0"/>
              </a:spcBef>
              <a:spcAft>
                <a:spcPts val="200"/>
              </a:spcAft>
            </a:pPr>
            <a:r>
              <a:rPr sz="1250" b="0">
                <a:solidFill>
                  <a:srgbClr val="333333"/>
                </a:solidFill>
                <a:latin typeface="Calibri"/>
              </a:rPr>
              <a:t>• Le quote più alte si pagano: cerca comprensori più bassi per risparmiare</a:t>
            </a:r>
          </a:p>
          <a:p>
            <a:pPr algn="l" lvl="1">
              <a:spcBef>
                <a:spcPts val="0"/>
              </a:spcBef>
              <a:spcAft>
                <a:spcPts val="200"/>
              </a:spcAft>
            </a:pPr>
            <a:r>
              <a:rPr sz="1250" b="0">
                <a:solidFill>
                  <a:srgbClr val="333333"/>
                </a:solidFill>
                <a:latin typeface="Calibri"/>
              </a:rPr>
              <a:t>• Non pagare per la “neve garantita”: non è ciò che alza il prezzo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3063240"/>
            <a:ext cx="11064240" cy="1481328"/>
          </a:xfrm>
          <a:prstGeom prst="rect">
            <a:avLst/>
          </a:prstGeom>
          <a:solidFill>
            <a:srgbClr val="EAF2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3063240"/>
            <a:ext cx="109728" cy="1481328"/>
          </a:xfrm>
          <a:prstGeom prst="rect">
            <a:avLst/>
          </a:prstGeom>
          <a:solidFill>
            <a:srgbClr val="1E8B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3172968"/>
            <a:ext cx="104241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>
                <a:solidFill>
                  <a:srgbClr val="1E8B5A"/>
                </a:solidFill>
                <a:latin typeface="Calibri"/>
              </a:rPr>
              <a:t>🏔️  Se gestisci o prezzi un comprensorio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3566160"/>
            <a:ext cx="10515600" cy="960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lvl="1">
              <a:spcBef>
                <a:spcPts val="0"/>
              </a:spcBef>
              <a:spcAft>
                <a:spcPts val="200"/>
              </a:spcAft>
            </a:pPr>
            <a:r>
              <a:rPr sz="1250" b="0">
                <a:solidFill>
                  <a:srgbClr val="333333"/>
                </a:solidFill>
                <a:latin typeface="Calibri"/>
              </a:rPr>
              <a:t>• Posizione e altitudine fissano il tetto di prezzo realistico</a:t>
            </a:r>
          </a:p>
          <a:p>
            <a:pPr algn="l" lvl="1">
              <a:spcBef>
                <a:spcPts val="0"/>
              </a:spcBef>
              <a:spcAft>
                <a:spcPts val="200"/>
              </a:spcAft>
            </a:pPr>
            <a:r>
              <a:rPr sz="1250" b="0">
                <a:solidFill>
                  <a:srgbClr val="333333"/>
                </a:solidFill>
                <a:latin typeface="Calibri"/>
              </a:rPr>
              <a:t>• Uno snowpark giustifica un piccolo sovrapprezzo; sci notturno e “baby-friendly” no</a:t>
            </a:r>
          </a:p>
          <a:p>
            <a:pPr algn="l" lvl="1">
              <a:spcBef>
                <a:spcPts val="0"/>
              </a:spcBef>
              <a:spcAft>
                <a:spcPts val="200"/>
              </a:spcAft>
            </a:pPr>
            <a:r>
              <a:rPr sz="1250" b="0">
                <a:solidFill>
                  <a:srgbClr val="333333"/>
                </a:solidFill>
                <a:latin typeface="Calibri"/>
              </a:rPr>
              <a:t>• Investire in più impianti non si traduce automaticamente in prezzi più alti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4663440"/>
            <a:ext cx="11064240" cy="1481328"/>
          </a:xfrm>
          <a:prstGeom prst="rect">
            <a:avLst/>
          </a:prstGeom>
          <a:solidFill>
            <a:srgbClr val="EAF2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48640" y="4663440"/>
            <a:ext cx="109728" cy="1481328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68680" y="4773168"/>
            <a:ext cx="104241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>
                <a:solidFill>
                  <a:srgbClr val="1F3A5F"/>
                </a:solidFill>
                <a:latin typeface="Calibri"/>
              </a:rPr>
              <a:t>📊  Se sei un investitore o un ente del turismo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5166360"/>
            <a:ext cx="10515600" cy="960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lvl="1">
              <a:spcBef>
                <a:spcPts val="0"/>
              </a:spcBef>
              <a:spcAft>
                <a:spcPts val="200"/>
              </a:spcAft>
            </a:pPr>
            <a:r>
              <a:rPr sz="1250" b="0">
                <a:solidFill>
                  <a:srgbClr val="333333"/>
                </a:solidFill>
                <a:latin typeface="Calibri"/>
              </a:rPr>
              <a:t>• Il mercato è guidato dalla geografia più che dai servizi</a:t>
            </a:r>
          </a:p>
          <a:p>
            <a:pPr algn="l" lvl="1">
              <a:spcBef>
                <a:spcPts val="0"/>
              </a:spcBef>
              <a:spcAft>
                <a:spcPts val="200"/>
              </a:spcAft>
            </a:pPr>
            <a:r>
              <a:rPr sz="1250" b="0">
                <a:solidFill>
                  <a:srgbClr val="333333"/>
                </a:solidFill>
                <a:latin typeface="Calibri"/>
              </a:rPr>
              <a:t>• La ricchezza del Paese conta; il costo della vita locale molto meno</a:t>
            </a:r>
          </a:p>
          <a:p>
            <a:pPr algn="l" lvl="1">
              <a:spcBef>
                <a:spcPts val="0"/>
              </a:spcBef>
              <a:spcAft>
                <a:spcPts val="200"/>
              </a:spcAft>
            </a:pPr>
            <a:r>
              <a:rPr sz="1250" b="0">
                <a:solidFill>
                  <a:srgbClr val="333333"/>
                </a:solidFill>
                <a:latin typeface="Calibri"/>
              </a:rPr>
              <a:t>• Attenzione: pochi dati per Oceania e Sud America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900" b="0">
                <a:solidFill>
                  <a:srgbClr val="555555"/>
                </a:solidFill>
                <a:latin typeface="Calibri"/>
              </a:rPr>
              <a:t>Cosa determina il prezzo di uno skipass?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72800" y="6446520"/>
            <a:ext cx="822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Bef>
                <a:spcPts val="0"/>
              </a:spcBef>
            </a:pPr>
            <a:r>
              <a:rPr sz="900" b="0">
                <a:solidFill>
                  <a:srgbClr val="555555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43000"/>
            <a:ext cx="12191695" cy="50800"/>
          </a:xfrm>
          <a:prstGeom prst="rect">
            <a:avLst/>
          </a:prstGeom>
          <a:solidFill>
            <a:srgbClr val="2E86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46304"/>
            <a:ext cx="10972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300" b="1">
                <a:solidFill>
                  <a:srgbClr val="BFD9F0"/>
                </a:solidFill>
                <a:latin typeface="Calibri"/>
              </a:rPr>
              <a:t>ONESTÀ INTELLETTUALE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20624"/>
            <a:ext cx="1106424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>
                <a:solidFill>
                  <a:srgbClr val="FFFFFF"/>
                </a:solidFill>
                <a:latin typeface="Calibri"/>
              </a:rPr>
              <a:t>Limiti da tenere a mente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554480"/>
            <a:ext cx="11064240" cy="841248"/>
          </a:xfrm>
          <a:prstGeom prst="rect">
            <a:avLst/>
          </a:prstGeom>
          <a:solidFill>
            <a:srgbClr val="EAF2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1554480"/>
            <a:ext cx="109728" cy="841248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1554480"/>
            <a:ext cx="3657600" cy="8412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1500" b="1">
                <a:solidFill>
                  <a:srgbClr val="1F3A5F"/>
                </a:solidFill>
                <a:latin typeface="Calibri"/>
              </a:rPr>
              <a:t>Foto di un solo anno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1554480"/>
            <a:ext cx="6858000" cy="8412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1300" b="0">
                <a:solidFill>
                  <a:srgbClr val="333333"/>
                </a:solidFill>
                <a:latin typeface="Calibri"/>
              </a:rPr>
              <a:t>I prezzi sono del 2022/23: nessuna evoluzione nel tempo.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2487168"/>
            <a:ext cx="11064240" cy="841248"/>
          </a:xfrm>
          <a:prstGeom prst="rect">
            <a:avLst/>
          </a:prstGeom>
          <a:solidFill>
            <a:srgbClr val="EAF2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2487168"/>
            <a:ext cx="109728" cy="841248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2487168"/>
            <a:ext cx="3657600" cy="8412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1500" b="1">
                <a:solidFill>
                  <a:srgbClr val="1F3A5F"/>
                </a:solidFill>
                <a:latin typeface="Calibri"/>
              </a:rPr>
              <a:t>Associazione, non causa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0" y="2487168"/>
            <a:ext cx="6858000" cy="8412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1300" b="0">
                <a:solidFill>
                  <a:srgbClr val="333333"/>
                </a:solidFill>
                <a:latin typeface="Calibri"/>
              </a:rPr>
              <a:t>I dati mostrano legami, non dimostrano cause dirette.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3419856"/>
            <a:ext cx="11064240" cy="841248"/>
          </a:xfrm>
          <a:prstGeom prst="rect">
            <a:avLst/>
          </a:prstGeom>
          <a:solidFill>
            <a:srgbClr val="EAF2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48640" y="3419856"/>
            <a:ext cx="109728" cy="841248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68680" y="3419856"/>
            <a:ext cx="3657600" cy="8412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1500" b="1">
                <a:solidFill>
                  <a:srgbClr val="1F3A5F"/>
                </a:solidFill>
                <a:latin typeface="Calibri"/>
              </a:rPr>
              <a:t>Campione sbilanciato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0" y="3419856"/>
            <a:ext cx="6858000" cy="8412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1300" b="0">
                <a:solidFill>
                  <a:srgbClr val="333333"/>
                </a:solidFill>
                <a:latin typeface="Calibri"/>
              </a:rPr>
              <a:t>Soprattutto Europa; Oceania (10) e Sud America (7) hanno pochi casi.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48640" y="4352544"/>
            <a:ext cx="11064240" cy="841248"/>
          </a:xfrm>
          <a:prstGeom prst="rect">
            <a:avLst/>
          </a:prstGeom>
          <a:solidFill>
            <a:srgbClr val="EAF2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48640" y="4352544"/>
            <a:ext cx="109728" cy="841248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68680" y="4352544"/>
            <a:ext cx="3657600" cy="8412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1500" b="1">
                <a:solidFill>
                  <a:srgbClr val="1F3A5F"/>
                </a:solidFill>
                <a:latin typeface="Calibri"/>
              </a:rPr>
              <a:t>Economia per Paese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0" y="4352544"/>
            <a:ext cx="6858000" cy="8412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1300" b="0">
                <a:solidFill>
                  <a:srgbClr val="333333"/>
                </a:solidFill>
                <a:latin typeface="Calibri"/>
              </a:rPr>
              <a:t>PIL e costo della vita sono medie nazionali, non del singolo comprensorio.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48640" y="5285232"/>
            <a:ext cx="11064240" cy="841248"/>
          </a:xfrm>
          <a:prstGeom prst="rect">
            <a:avLst/>
          </a:prstGeom>
          <a:solidFill>
            <a:srgbClr val="EAF2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48640" y="5285232"/>
            <a:ext cx="109728" cy="841248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68680" y="5285232"/>
            <a:ext cx="3657600" cy="8412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1500" b="1">
                <a:solidFill>
                  <a:srgbClr val="1F3A5F"/>
                </a:solidFill>
                <a:latin typeface="Calibri"/>
              </a:rPr>
              <a:t>Dati ricostruiti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0" y="5285232"/>
            <a:ext cx="6858000" cy="8412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1300" b="0">
                <a:solidFill>
                  <a:srgbClr val="333333"/>
                </a:solidFill>
                <a:latin typeface="Calibri"/>
              </a:rPr>
              <a:t>9 prezzi mancanti e molte stagioni “da ripulire”; neve stimata per coordinate.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900" b="0">
                <a:solidFill>
                  <a:srgbClr val="555555"/>
                </a:solidFill>
                <a:latin typeface="Calibri"/>
              </a:rPr>
              <a:t>Cosa determina il prezzo di uno skipass?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972800" y="6446520"/>
            <a:ext cx="822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Bef>
                <a:spcPts val="0"/>
              </a:spcBef>
            </a:pPr>
            <a:r>
              <a:rPr sz="900" b="0">
                <a:solidFill>
                  <a:srgbClr val="555555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468880"/>
            <a:ext cx="12191695" cy="63500"/>
          </a:xfrm>
          <a:prstGeom prst="rect">
            <a:avLst/>
          </a:prstGeom>
          <a:solidFill>
            <a:srgbClr val="2E86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822960"/>
            <a:ext cx="103327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</a:pPr>
            <a:r>
              <a:rPr sz="1600" b="1">
                <a:solidFill>
                  <a:srgbClr val="BFD9F0"/>
                </a:solidFill>
                <a:latin typeface="Calibri"/>
              </a:rPr>
              <a:t>IN UNA FRASE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280160"/>
            <a:ext cx="1033272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</a:pPr>
            <a:r>
              <a:rPr sz="3000" b="1">
                <a:solidFill>
                  <a:srgbClr val="FFFFFF"/>
                </a:solidFill>
                <a:latin typeface="Calibri"/>
              </a:rPr>
              <a:t>A muovere il prezzo di uno skipass
sono la geografia e l'altitudine 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743200"/>
            <a:ext cx="1033272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</a:pPr>
            <a:r>
              <a:rPr sz="3200" b="1">
                <a:solidFill>
                  <a:srgbClr val="1E8B5A"/>
                </a:solidFill>
                <a:latin typeface="Calibri"/>
              </a:rPr>
              <a:t>non la neve, non i servizi.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4114800"/>
            <a:ext cx="1033272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</a:pPr>
            <a:r>
              <a:rPr sz="1600" b="0">
                <a:solidFill>
                  <a:srgbClr val="D6E6F2"/>
                </a:solidFill>
                <a:latin typeface="Calibri"/>
              </a:rPr>
              <a:t>Chi vuole risparmiare guarda dove e a che quota scia; chi fissa i prezzi sa che la posizione, non gli accessori, definisce quanto può chiedere.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5760720"/>
            <a:ext cx="103327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</a:pPr>
            <a:r>
              <a:rPr sz="1800" b="1">
                <a:solidFill>
                  <a:srgbClr val="FFFFFF"/>
                </a:solidFill>
                <a:latin typeface="Calibri"/>
              </a:rPr>
              <a:t>Grazie  ·  domande?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